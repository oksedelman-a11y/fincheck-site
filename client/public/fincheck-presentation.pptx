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7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16000" y="76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6000" y="1117600"/>
            <a:ext cx="1016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16000" y="2540000"/>
            <a:ext cx="1143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4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Авторская методология</a:t>
            </a:r>
            <a:endParaRPr lang="en-US" sz="4200" dirty="0"/>
          </a:p>
          <a:p>
            <a:pPr algn="l">
              <a:lnSpc>
                <a:spcPct val="125000"/>
              </a:lnSpc>
            </a:pPr>
            <a:r>
              <a:rPr lang="en-US" sz="4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восстановления достоверной</a:t>
            </a:r>
            <a:endParaRPr lang="en-US" sz="4200" dirty="0"/>
          </a:p>
          <a:p>
            <a:pPr algn="l">
              <a:lnSpc>
                <a:spcPct val="125000"/>
              </a:lnSpc>
            </a:pPr>
            <a:r>
              <a:rPr lang="en-US" sz="4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 бизнес-процессов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20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Сначала понять, что происходит. Потом решать, что менять.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5715000"/>
            <a:ext cx="228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016000" y="6604000"/>
            <a:ext cx="101600" cy="10160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397000" y="6921500"/>
            <a:ext cx="101600" cy="10160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206500" y="7239000"/>
            <a:ext cx="101600" cy="10160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778000" y="6667500"/>
            <a:ext cx="101600" cy="10160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587500" y="7112000"/>
            <a:ext cx="101600" cy="10160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159000" y="6921500"/>
            <a:ext cx="76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302000" y="6731000"/>
            <a:ext cx="635000" cy="38100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 flipH="1">
            <a:off x="3937000" y="6731000"/>
            <a:ext cx="635000" cy="38100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302000" y="7112000"/>
            <a:ext cx="635000" cy="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937000" y="7112000"/>
            <a:ext cx="635000" cy="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 flipV="1">
            <a:off x="3302000" y="7112000"/>
            <a:ext cx="635000" cy="38100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3937000" y="7112000"/>
            <a:ext cx="635000" cy="381000"/>
          </a:xfrm>
          <a:prstGeom prst="straightConnector1">
            <a:avLst/>
          </a:prstGeom>
          <a:noFill/>
          <a:ln w="12700">
            <a:solidFill>
              <a:srgbClr val="1B3A6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3810000" y="6959600"/>
            <a:ext cx="254000" cy="254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175000" y="7620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единая модель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016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управленческого анализа</a:t>
            </a:r>
            <a:endParaRPr lang="en-US" sz="1200" dirty="0"/>
          </a:p>
        </p:txBody>
      </p:sp>
      <p:pic>
        <p:nvPicPr>
          <p:cNvPr id="24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компании теряют управляемость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524000" y="2286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524000" y="2286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24000" y="3302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524000" y="3302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24000" y="4318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524000" y="4318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Отчёт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24000" y="5334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524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Сотрудник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24000" y="6350000"/>
            <a:ext cx="2032000" cy="6350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524000" y="6350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Регламент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88000" y="2540000"/>
            <a:ext cx="0" cy="4191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588000" y="6731000"/>
            <a:ext cx="0" cy="5080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858000" y="3556000"/>
            <a:ext cx="6350000" cy="1524000"/>
          </a:xfrm>
          <a:prstGeom prst="rect">
            <a:avLst/>
          </a:prstGeom>
          <a:solidFill>
            <a:srgbClr val="F7FAF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858000" y="3556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Нет доверия данным</a:t>
            </a:r>
            <a:endParaRPr lang="en-US" sz="22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Разрушение единой картины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6000" y="7620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Разрозненные источники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0" y="546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Финчек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858000" y="2794000"/>
            <a:ext cx="2540000" cy="2540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0" y="2794000"/>
            <a:ext cx="254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02600" y="5334000"/>
            <a:ext cx="0" cy="508000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318000" y="596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Единая модель бизнес-процесса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10000" y="4064000"/>
            <a:ext cx="3048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810000" y="2286000"/>
            <a:ext cx="0" cy="1778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016000" y="203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Качество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2667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Практики оценки и верификации данных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98000" y="4064000"/>
            <a:ext cx="3048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2446000" y="2286000"/>
            <a:ext cx="0" cy="177800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2446000" y="203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Бизнес-анализ (AS IS)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46000" y="266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Восстановление текущего процесса без проектирования будущего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48000" y="685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 три услуги. Три основы одной методологии. Без проектирования будущего процесса.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получает клиент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524000" y="19050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24000" y="292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данных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40000" y="3479800"/>
            <a:ext cx="15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651000" y="3683000"/>
            <a:ext cx="330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Структурированное описание всех источников данных, их связей и правил трансформации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34000" y="3302000"/>
            <a:ext cx="76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350000" y="19050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223000" y="28575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Аналитическая карта процесса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66000" y="3556000"/>
            <a:ext cx="15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477000" y="3683000"/>
            <a:ext cx="330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Визуализация бизнес-процесса с точки зрения потока данных и управленческих решений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60000" y="3302000"/>
            <a:ext cx="762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1176000" y="19050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1049000" y="28575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управленческих изменений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92000" y="3556000"/>
            <a:ext cx="15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1303000" y="3683000"/>
            <a:ext cx="330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Конкретные шаги по устранению выявленных разрывов и противоречий в процессе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40000" y="5842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40000" y="6096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артефакта формируют полную картину: от данных до конкретных действий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работает метод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794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94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32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Концентрация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78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и фокусировка на одном бизнес-процессе. Определение границ исследования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8000" y="3022600"/>
            <a:ext cx="2540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7620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20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Вопросы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4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Структурированное опросное исследование всех участников процесса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3022600"/>
            <a:ext cx="2540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2446000" y="2540000"/>
            <a:ext cx="1016000" cy="1016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2446000" y="2540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684000" y="381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Связи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0" y="4318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Установление связей между данными, процессами и управленческими решениями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40000" y="6096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40000" y="6350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Три шага от разрозненной информации к целостной модели процесса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588000" y="15240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588000" y="1524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Разрозненные данные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02600" y="20828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588000" y="23622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588000" y="2362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Инвентаризация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2600" y="29210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588000" y="32004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588000" y="32004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данных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2600" y="37592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588000" y="40386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588000" y="40386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Верификация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2600" y="45974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588000" y="4876800"/>
            <a:ext cx="5080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588000" y="48768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Выявление противоречий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02600" y="54356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5588000" y="5715000"/>
            <a:ext cx="5080000" cy="558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588000" y="5715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Аналитическая карта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2600" y="6273800"/>
            <a:ext cx="0" cy="27940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5588000" y="6553200"/>
            <a:ext cx="5080000" cy="558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588000" y="65532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изменений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40000" y="165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Исходное состояние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40000" y="4064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40000" y="6223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176000" y="1651000"/>
            <a:ext cx="25400" cy="5461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11176000" y="1651000"/>
            <a:ext cx="25400" cy="5461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11430000" y="165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Прогресс преобразования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  <p:pic>
        <p:nvPicPr>
          <p:cNvPr id="3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Финчек-Старт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ЭКСПРЕСС-ДИАГНОСТИКА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6000" y="2286000"/>
            <a:ext cx="5080000" cy="10160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270000" y="2286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3–5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94000" y="2286000"/>
            <a:ext cx="304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рабочих дней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6000" y="165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kern="0" spc="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6000" y="234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20000" y="222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процесса верхнего уровня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6000" y="2984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620000" y="285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источников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6000" y="361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620000" y="349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Основной выявленный разрыв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66000" y="4254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620000" y="4127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Предварительная оценка зрелости процесса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66000" y="4889500"/>
            <a:ext cx="101600" cy="101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620000" y="4762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Рекомендация по дальнейшим действиям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16000" y="5842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016000" y="6096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Быстрая диагностика для принятия решения о масштабировании исследования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200" dirty="0"/>
          </a:p>
        </p:txBody>
      </p:sp>
      <p:pic>
        <p:nvPicPr>
          <p:cNvPr id="23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Полный Финчек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27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Восстановление одного бизнес-процесса — три артефакта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70000" y="215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292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данных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454400"/>
            <a:ext cx="1778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397000" y="36830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Полное описание структуры данных: источники, поля, правила трансформации, связи между объектами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88000" y="3302000"/>
            <a:ext cx="1016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0" y="215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0" y="292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Аналитическая карта процесса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74000" y="3454400"/>
            <a:ext cx="1778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985000" y="36830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Визуальная схема процесса с выявленными узкими местами, противоречиями и точками принятия решений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76000" y="3302000"/>
            <a:ext cx="1016000" cy="0"/>
          </a:xfrm>
          <a:prstGeom prst="straightConnector1">
            <a:avLst/>
          </a:prstGeom>
          <a:noFill/>
          <a:ln w="12700">
            <a:solidFill>
              <a:srgbClr val="718096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2446000" y="2159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293600" y="2921000"/>
            <a:ext cx="3873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Карта управленческих изменений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462000" y="3454400"/>
            <a:ext cx="1778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2573000" y="3683000"/>
            <a:ext cx="355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Приоритизированный план действий по устранению выявленных проблем с оценкой эффекта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40000" y="6096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2540000" y="6350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→ Понимание → Действие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200" dirty="0"/>
          </a:p>
        </p:txBody>
      </p:sp>
      <p:pic>
        <p:nvPicPr>
          <p:cNvPr id="23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Типовые задачи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Дебиторская задолженность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42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Бюджеты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0" y="1778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Закупки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Запасы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42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Продажи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0" y="292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Логистика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16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Подготовка автоматизации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42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Разные цифры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68000" y="4064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 Отсутствие доверия данным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016000" y="3683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1016000" y="4826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588000" y="1778000"/>
            <a:ext cx="12700" cy="304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0414000" y="1778000"/>
            <a:ext cx="12700" cy="304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2540000" y="5842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2540000" y="6096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Любой процесс, где данные разрознены, а решения принимаются вслепую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200" dirty="0"/>
          </a:p>
        </p:txBody>
      </p:sp>
      <p:pic>
        <p:nvPicPr>
          <p:cNvPr id="22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Коммерческая модель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16000" y="1041400"/>
            <a:ext cx="1524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1270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Последовательность масштабирования исследования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778000" y="4572000"/>
            <a:ext cx="12700000" cy="25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286000" y="4318000"/>
            <a:ext cx="304800" cy="3048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270000" y="355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Финчек-Старт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495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3–5 дней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Экспресс-диагностика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42000" y="4318000"/>
            <a:ext cx="304800" cy="3048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826000" y="355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 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495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2–3 недели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Один процесс, базовая модель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98000" y="4318000"/>
            <a:ext cx="304800" cy="3048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382000" y="355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495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1–2 месяца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Несколько процессов, интеграция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954000" y="4318000"/>
            <a:ext cx="304800" cy="3048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1938000" y="3556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 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38000" y="4953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3–6 месяцев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ru-RU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</a:t>
            </a: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осстановление </a:t>
            </a:r>
            <a:r>
              <a:rPr lang="ru-RU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высоконагруженной </a:t>
            </a:r>
            <a:r>
              <a:rPr lang="en-US" sz="13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90800" y="4445000"/>
            <a:ext cx="32512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6146800" y="4445000"/>
            <a:ext cx="32512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9702800" y="4445000"/>
            <a:ext cx="32512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2540000" y="6604000"/>
            <a:ext cx="11176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2540000" y="6858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 диагностики к полному восстановлению модели бизнес</a:t>
            </a:r>
            <a:r>
              <a:rPr lang="ru-RU" sz="15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-процесса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16000" y="8509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4732000" y="8610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200" dirty="0"/>
          </a:p>
        </p:txBody>
      </p:sp>
      <p:pic>
        <p:nvPicPr>
          <p:cNvPr id="25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2032000" y="2286000"/>
            <a:ext cx="2540000" cy="762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2032000" y="228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Собрать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2641600"/>
            <a:ext cx="1270000" cy="0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842000" y="2286000"/>
            <a:ext cx="2540000" cy="762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842000" y="228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Понять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641600"/>
            <a:ext cx="1270000" cy="0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652000" y="2286000"/>
            <a:ext cx="2540000" cy="762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652000" y="228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Верифицировать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192000" y="2641600"/>
            <a:ext cx="1270000" cy="0"/>
          </a:xfrm>
          <a:prstGeom prst="straightConnector1">
            <a:avLst/>
          </a:prstGeom>
          <a:noFill/>
          <a:ln w="25400">
            <a:solidFill>
              <a:srgbClr val="1B3A6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3462000" y="2286000"/>
            <a:ext cx="2540000" cy="762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3462000" y="228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Доверять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4318000"/>
            <a:ext cx="2540000" cy="254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318000" y="4572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kern="0" spc="400" dirty="0">
                <a:solidFill>
                  <a:srgbClr val="1B3A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ФИНЧЕК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48000" y="5207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Авторская методология восстановления достоверной модели бизнес-процессов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18000" y="635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Сначала понять, что происходит. Потом решать, что менять.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1016000" y="8509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Методология управленческого анализа</a:t>
            </a:r>
            <a:endParaRPr lang="en-US" sz="1200" dirty="0"/>
          </a:p>
        </p:txBody>
      </p:sp>
      <p:pic>
        <p:nvPicPr>
          <p:cNvPr id="20" name="Image 0" descr="https://kimi-img.moonshot.cn/pub/slides/26-07-08-15:49:10-d9701tl22qdderqj3n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418</Words>
  <Application>Microsoft Office PowerPoint</Application>
  <PresentationFormat>Произвольный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Liter</vt:lpstr>
      <vt:lpstr>MiSans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Финчек — Авторская методология восстановления достоверной модели бизнес-процессов</dc:title>
  <dc:subject>Финчек — Авторская методология восстановления достоверной модели бизнес-процессов</dc:subject>
  <dc:creator>Kimi</dc:creator>
  <cp:lastModifiedBy>Оксана Эдельман</cp:lastModifiedBy>
  <cp:revision>2</cp:revision>
  <dcterms:created xsi:type="dcterms:W3CDTF">2026-07-08T07:51:23Z</dcterms:created>
  <dcterms:modified xsi:type="dcterms:W3CDTF">2026-07-08T07:54:56Z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{"Label":"Финчек — Авторская методология восстановления достоверной модели бизнес-процессов","ContentProducer":"001191110108MACG2KBH8F10000","ProduceID":"19f408f3-0662-8c54-8000-00000dbfdf38","ReservedCode1":"","ContentPropagator":"001191110108MACG2KBH8F20000","PropagateID":"19f408a9-9c32-8401-8000-096c82188f42","ReservedCode2":""}</vt:lpwstr>
  </property>
</Properties>
</file>