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57" r:id="rId4"/>
    <p:sldId id="260" r:id="rId5"/>
    <p:sldId id="261" r:id="rId6"/>
    <p:sldId id="269" r:id="rId7"/>
    <p:sldId id="271" r:id="rId8"/>
    <p:sldId id="264" r:id="rId9"/>
    <p:sldId id="272" r:id="rId10"/>
    <p:sldId id="262" r:id="rId11"/>
    <p:sldId id="270" r:id="rId12"/>
    <p:sldId id="273" r:id="rId13"/>
  </p:sldIdLst>
  <p:sldSz cx="16256000" cy="9144000"/>
  <p:notesSz cx="9144000" cy="1625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18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6252667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Shape 1"/>
          <p:cNvSpPr/>
          <p:nvPr/>
        </p:nvSpPr>
        <p:spPr>
          <a:xfrm>
            <a:off x="1015738" y="762839"/>
            <a:ext cx="3808780" cy="304455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4" name="Text 2"/>
          <p:cNvSpPr/>
          <p:nvPr/>
        </p:nvSpPr>
        <p:spPr>
          <a:xfrm>
            <a:off x="924316" y="717128"/>
            <a:ext cx="3991624" cy="395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97" kern="0" spc="299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1297" dirty="0"/>
          </a:p>
        </p:txBody>
      </p:sp>
      <p:sp>
        <p:nvSpPr>
          <p:cNvPr id="5" name="Shape 3"/>
          <p:cNvSpPr/>
          <p:nvPr/>
        </p:nvSpPr>
        <p:spPr>
          <a:xfrm>
            <a:off x="1015738" y="1118148"/>
            <a:ext cx="1015357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6" name="Shape 4"/>
          <p:cNvSpPr/>
          <p:nvPr/>
        </p:nvSpPr>
        <p:spPr>
          <a:xfrm>
            <a:off x="1015738" y="2540524"/>
            <a:ext cx="11427387" cy="2475635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7" name="Text 5"/>
          <p:cNvSpPr/>
          <p:nvPr/>
        </p:nvSpPr>
        <p:spPr>
          <a:xfrm>
            <a:off x="924316" y="2494813"/>
            <a:ext cx="11610231" cy="256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41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Авторская методология</a:t>
            </a:r>
            <a:endParaRPr lang="en-US" sz="4199" dirty="0"/>
          </a:p>
          <a:p>
            <a:pPr algn="l">
              <a:lnSpc>
                <a:spcPct val="125000"/>
              </a:lnSpc>
            </a:pPr>
            <a:r>
              <a:rPr lang="en-US" sz="41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восстановления достоверной</a:t>
            </a:r>
            <a:endParaRPr lang="en-US" sz="4199" dirty="0"/>
          </a:p>
          <a:p>
            <a:pPr algn="l">
              <a:lnSpc>
                <a:spcPct val="125000"/>
              </a:lnSpc>
            </a:pPr>
            <a:r>
              <a:rPr lang="en-US" sz="41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 бизнес-процессов</a:t>
            </a:r>
            <a:endParaRPr lang="en-US" sz="4199" dirty="0"/>
          </a:p>
        </p:txBody>
      </p:sp>
      <p:sp>
        <p:nvSpPr>
          <p:cNvPr id="8" name="Shape 6"/>
          <p:cNvSpPr/>
          <p:nvPr/>
        </p:nvSpPr>
        <p:spPr>
          <a:xfrm>
            <a:off x="1015738" y="5206908"/>
            <a:ext cx="8887756" cy="380449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/>
          <p:nvPr/>
        </p:nvSpPr>
        <p:spPr>
          <a:xfrm>
            <a:off x="924316" y="5161197"/>
            <a:ext cx="9070600" cy="471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Сначала понять, что происходит. Потом решать, что менять.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15738" y="5714777"/>
            <a:ext cx="2285173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1" name="Shape 9"/>
          <p:cNvSpPr/>
          <p:nvPr/>
        </p:nvSpPr>
        <p:spPr>
          <a:xfrm>
            <a:off x="1015738" y="6603476"/>
            <a:ext cx="101136" cy="10113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2" name="Shape 10"/>
          <p:cNvSpPr/>
          <p:nvPr/>
        </p:nvSpPr>
        <p:spPr>
          <a:xfrm>
            <a:off x="1396854" y="6920882"/>
            <a:ext cx="101136" cy="10113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3" name="Shape 11"/>
          <p:cNvSpPr/>
          <p:nvPr/>
        </p:nvSpPr>
        <p:spPr>
          <a:xfrm>
            <a:off x="1206106" y="7238384"/>
            <a:ext cx="101136" cy="10113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4" name="Shape 12"/>
          <p:cNvSpPr/>
          <p:nvPr/>
        </p:nvSpPr>
        <p:spPr>
          <a:xfrm>
            <a:off x="1777684" y="6667186"/>
            <a:ext cx="101136" cy="10113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5" name="Shape 13"/>
          <p:cNvSpPr/>
          <p:nvPr/>
        </p:nvSpPr>
        <p:spPr>
          <a:xfrm>
            <a:off x="1587317" y="7111631"/>
            <a:ext cx="101136" cy="10113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6" name="Shape 14"/>
          <p:cNvSpPr/>
          <p:nvPr/>
        </p:nvSpPr>
        <p:spPr>
          <a:xfrm>
            <a:off x="2158515" y="6920882"/>
            <a:ext cx="761566" cy="381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Shape 15"/>
          <p:cNvSpPr/>
          <p:nvPr/>
        </p:nvSpPr>
        <p:spPr>
          <a:xfrm>
            <a:off x="3301292" y="6730516"/>
            <a:ext cx="634527" cy="380449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8" name="Shape 16"/>
          <p:cNvSpPr/>
          <p:nvPr/>
        </p:nvSpPr>
        <p:spPr>
          <a:xfrm flipH="1">
            <a:off x="3935438" y="6730516"/>
            <a:ext cx="634527" cy="380449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9" name="Shape 17"/>
          <p:cNvSpPr/>
          <p:nvPr/>
        </p:nvSpPr>
        <p:spPr>
          <a:xfrm>
            <a:off x="3301292" y="7111631"/>
            <a:ext cx="634527" cy="381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Shape 18"/>
          <p:cNvSpPr/>
          <p:nvPr/>
        </p:nvSpPr>
        <p:spPr>
          <a:xfrm>
            <a:off x="3936200" y="7111631"/>
            <a:ext cx="634527" cy="381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1" name="Shape 19"/>
          <p:cNvSpPr/>
          <p:nvPr/>
        </p:nvSpPr>
        <p:spPr>
          <a:xfrm flipV="1">
            <a:off x="3301292" y="7110965"/>
            <a:ext cx="634527" cy="380449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2" name="Shape 20"/>
          <p:cNvSpPr/>
          <p:nvPr/>
        </p:nvSpPr>
        <p:spPr>
          <a:xfrm>
            <a:off x="3936200" y="7111632"/>
            <a:ext cx="634527" cy="380449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3" name="Shape 21"/>
          <p:cNvSpPr/>
          <p:nvPr/>
        </p:nvSpPr>
        <p:spPr>
          <a:xfrm>
            <a:off x="3809161" y="6959070"/>
            <a:ext cx="253792" cy="2537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4" name="Shape 22"/>
          <p:cNvSpPr/>
          <p:nvPr/>
        </p:nvSpPr>
        <p:spPr>
          <a:xfrm>
            <a:off x="3174254" y="7619500"/>
            <a:ext cx="1904342" cy="253792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5" name="Text 23"/>
          <p:cNvSpPr/>
          <p:nvPr/>
        </p:nvSpPr>
        <p:spPr>
          <a:xfrm>
            <a:off x="3082831" y="7573789"/>
            <a:ext cx="2087187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2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единая модель</a:t>
            </a:r>
            <a:endParaRPr lang="en-US" sz="1102" dirty="0"/>
          </a:p>
        </p:txBody>
      </p:sp>
      <p:sp>
        <p:nvSpPr>
          <p:cNvPr id="26" name="Shape 24"/>
          <p:cNvSpPr/>
          <p:nvPr/>
        </p:nvSpPr>
        <p:spPr>
          <a:xfrm>
            <a:off x="1015738" y="8381161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7" name="Shape 25"/>
          <p:cNvSpPr/>
          <p:nvPr/>
        </p:nvSpPr>
        <p:spPr>
          <a:xfrm>
            <a:off x="1015739" y="8508200"/>
            <a:ext cx="5078595" cy="253792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8" name="Text 26"/>
          <p:cNvSpPr/>
          <p:nvPr/>
        </p:nvSpPr>
        <p:spPr>
          <a:xfrm>
            <a:off x="924316" y="8462489"/>
            <a:ext cx="526144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управленческого анализа</a:t>
            </a:r>
            <a:endParaRPr lang="en-US" sz="1200" dirty="0"/>
          </a:p>
        </p:txBody>
      </p:sp>
      <p:pic>
        <p:nvPicPr>
          <p:cNvPr id="29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3C32BCF0-5F12-6355-7214-AF81D9EB1C3B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738" y="508762"/>
            <a:ext cx="14220810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Text 1"/>
          <p:cNvSpPr/>
          <p:nvPr/>
        </p:nvSpPr>
        <p:spPr>
          <a:xfrm>
            <a:off x="924316" y="463051"/>
            <a:ext cx="144036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Финчек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5739" y="1042153"/>
            <a:ext cx="1523226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5" name="Text 3"/>
          <p:cNvSpPr/>
          <p:nvPr/>
        </p:nvSpPr>
        <p:spPr>
          <a:xfrm>
            <a:off x="924316" y="1124624"/>
            <a:ext cx="14398988" cy="43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25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Авторская методология объединения практик управления данными и бизнес-анализа для восстановления текущего состояния процесса без проектирования будущего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856661" y="2794316"/>
            <a:ext cx="2539345" cy="2539345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7" name="Shape 5"/>
          <p:cNvSpPr/>
          <p:nvPr/>
        </p:nvSpPr>
        <p:spPr>
          <a:xfrm>
            <a:off x="6856661" y="2794316"/>
            <a:ext cx="2539345" cy="2539345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8" name="Text 6"/>
          <p:cNvSpPr/>
          <p:nvPr/>
        </p:nvSpPr>
        <p:spPr>
          <a:xfrm>
            <a:off x="6765239" y="2748605"/>
            <a:ext cx="2722190" cy="2630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2" b="1" kern="0" spc="19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2002" dirty="0"/>
          </a:p>
        </p:txBody>
      </p:sp>
      <p:sp>
        <p:nvSpPr>
          <p:cNvPr id="9" name="Shape 7"/>
          <p:cNvSpPr/>
          <p:nvPr/>
        </p:nvSpPr>
        <p:spPr>
          <a:xfrm>
            <a:off x="8100954" y="5333947"/>
            <a:ext cx="381" cy="507488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0" name="Shape 8"/>
          <p:cNvSpPr/>
          <p:nvPr/>
        </p:nvSpPr>
        <p:spPr>
          <a:xfrm>
            <a:off x="4317030" y="5968855"/>
            <a:ext cx="7618226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11" name="Text 9"/>
          <p:cNvSpPr/>
          <p:nvPr/>
        </p:nvSpPr>
        <p:spPr>
          <a:xfrm>
            <a:off x="4225608" y="5923144"/>
            <a:ext cx="7801071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Единая модель бизнес-процесса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09161" y="4064131"/>
            <a:ext cx="3047119" cy="381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3" name="Shape 11"/>
          <p:cNvSpPr/>
          <p:nvPr/>
        </p:nvSpPr>
        <p:spPr>
          <a:xfrm>
            <a:off x="3809161" y="2286447"/>
            <a:ext cx="381" cy="1777304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4" name="Shape 12"/>
          <p:cNvSpPr/>
          <p:nvPr/>
        </p:nvSpPr>
        <p:spPr>
          <a:xfrm>
            <a:off x="1015738" y="2032369"/>
            <a:ext cx="2793042" cy="634527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15" name="Text 13"/>
          <p:cNvSpPr/>
          <p:nvPr/>
        </p:nvSpPr>
        <p:spPr>
          <a:xfrm>
            <a:off x="924316" y="1986658"/>
            <a:ext cx="2975886" cy="7259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Качество данных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15738" y="2667277"/>
            <a:ext cx="2793042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/>
          <p:nvPr/>
        </p:nvSpPr>
        <p:spPr>
          <a:xfrm>
            <a:off x="868701" y="2621566"/>
            <a:ext cx="2975886" cy="85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97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Практики оценки и верификации данных</a:t>
            </a:r>
            <a:endParaRPr lang="en-US" sz="1297" dirty="0"/>
          </a:p>
        </p:txBody>
      </p:sp>
      <p:sp>
        <p:nvSpPr>
          <p:cNvPr id="18" name="Shape 16"/>
          <p:cNvSpPr/>
          <p:nvPr/>
        </p:nvSpPr>
        <p:spPr>
          <a:xfrm>
            <a:off x="9396292" y="4064131"/>
            <a:ext cx="3047119" cy="381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9" name="Shape 17"/>
          <p:cNvSpPr/>
          <p:nvPr/>
        </p:nvSpPr>
        <p:spPr>
          <a:xfrm>
            <a:off x="12443506" y="2286447"/>
            <a:ext cx="381" cy="1777304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Shape 18"/>
          <p:cNvSpPr/>
          <p:nvPr/>
        </p:nvSpPr>
        <p:spPr>
          <a:xfrm>
            <a:off x="12443506" y="2032369"/>
            <a:ext cx="2793042" cy="634527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1" name="Text 19"/>
          <p:cNvSpPr/>
          <p:nvPr/>
        </p:nvSpPr>
        <p:spPr>
          <a:xfrm>
            <a:off x="12352084" y="1986658"/>
            <a:ext cx="2975886" cy="7259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Бизнес-анализ (AS IS)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443506" y="2667277"/>
            <a:ext cx="2793042" cy="1015357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3" name="Text 21"/>
          <p:cNvSpPr/>
          <p:nvPr/>
        </p:nvSpPr>
        <p:spPr>
          <a:xfrm>
            <a:off x="12352084" y="2621566"/>
            <a:ext cx="2975886" cy="1106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97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Восстановление текущего процесса без проектирования будущего</a:t>
            </a:r>
            <a:endParaRPr lang="en-US" sz="1297" dirty="0"/>
          </a:p>
        </p:txBody>
      </p:sp>
      <p:sp>
        <p:nvSpPr>
          <p:cNvPr id="24" name="Shape 22"/>
          <p:cNvSpPr/>
          <p:nvPr/>
        </p:nvSpPr>
        <p:spPr>
          <a:xfrm>
            <a:off x="3047500" y="6857554"/>
            <a:ext cx="10157572" cy="634527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5" name="Text 23"/>
          <p:cNvSpPr/>
          <p:nvPr/>
        </p:nvSpPr>
        <p:spPr>
          <a:xfrm>
            <a:off x="2956078" y="6811843"/>
            <a:ext cx="10340416" cy="725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2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основы одной методологии</a:t>
            </a:r>
            <a:endParaRPr lang="en-US" sz="1402" dirty="0"/>
          </a:p>
        </p:txBody>
      </p:sp>
      <p:sp>
        <p:nvSpPr>
          <p:cNvPr id="26" name="Shape 24"/>
          <p:cNvSpPr/>
          <p:nvPr/>
        </p:nvSpPr>
        <p:spPr>
          <a:xfrm>
            <a:off x="1015738" y="8508200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7" name="Shape 25"/>
          <p:cNvSpPr/>
          <p:nvPr/>
        </p:nvSpPr>
        <p:spPr>
          <a:xfrm>
            <a:off x="14729060" y="8609716"/>
            <a:ext cx="761566" cy="253792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8" name="Text 26"/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pic>
        <p:nvPicPr>
          <p:cNvPr id="29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компании теряют управляемость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524000" y="2286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1524000" y="2286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2D3748"/>
                </a:solidFill>
                <a:ea typeface="Liter" pitchFamily="34" charset="-122"/>
              </a:rPr>
              <a:t>Разные системы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24000" y="3302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524000" y="3302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/>
              <a:t>Разрозненные отчеты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24000" y="4318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524000" y="4318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/>
              <a:t>Разный подход и </a:t>
            </a:r>
          </a:p>
          <a:p>
            <a:pPr algn="ctr">
              <a:lnSpc>
                <a:spcPct val="120000"/>
              </a:lnSpc>
            </a:pPr>
            <a:r>
              <a:rPr lang="ru-RU" sz="1400" dirty="0"/>
              <a:t>понимание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24000" y="5334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Text 9"/>
          <p:cNvSpPr/>
          <p:nvPr/>
        </p:nvSpPr>
        <p:spPr>
          <a:xfrm>
            <a:off x="1524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2D3748"/>
                </a:solidFill>
              </a:rPr>
              <a:t>Сложившаяся практика</a:t>
            </a:r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2D3748"/>
                </a:solidFill>
              </a:rPr>
              <a:t>без регламентов</a:t>
            </a:r>
            <a:endParaRPr lang="en-US" sz="1400" dirty="0">
              <a:solidFill>
                <a:srgbClr val="2D3748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88000" y="2540000"/>
            <a:ext cx="0" cy="4191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588000" y="6731000"/>
            <a:ext cx="0" cy="5080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858000" y="3556000"/>
            <a:ext cx="6350000" cy="1524000"/>
          </a:xfrm>
          <a:prstGeom prst="rect">
            <a:avLst/>
          </a:prstGeom>
          <a:solidFill>
            <a:srgbClr val="F7FAF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858000" y="3556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доверия данным</a:t>
            </a:r>
            <a:endParaRPr lang="en-US" sz="22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Разрушение единой картины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6000" y="7620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Разрозненные источники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28000" y="546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Непредсказуемый р</a:t>
            </a: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езультат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  <p:sp>
        <p:nvSpPr>
          <p:cNvPr id="24" name="Text 26">
            <a:extLst>
              <a:ext uri="{FF2B5EF4-FFF2-40B4-BE49-F238E27FC236}">
                <a16:creationId xmlns:a16="http://schemas.microsoft.com/office/drawing/2014/main" id="{3BD27DA3-E941-934F-7EA6-F182D83CFA40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работает метод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794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94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32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Концентрация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78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и фокусировка на одном бизнес-процессе. Определение границ исследования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8000" y="3022600"/>
            <a:ext cx="2540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7620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20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Вопросы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4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Структурированное опросное исследование всех участников процесса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3022600"/>
            <a:ext cx="2540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2446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2446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684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Связи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Установление связей между данными, процессами и управленческими решениями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40000" y="6096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40000" y="6350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шага от разрозненной информации к целостной модели процесса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588000" y="15240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588000" y="1524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Разрозненные данные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02600" y="20828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588000" y="23622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588000" y="2362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Инвентаризация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2600" y="29210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588000" y="32004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588000" y="32004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данных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2600" y="37592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588000" y="40386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588000" y="40386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Верификация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2600" y="45974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588000" y="48768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588000" y="48768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Выявление противоречий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2600" y="54356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588000" y="5715000"/>
            <a:ext cx="5080000" cy="558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588000" y="5715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Аналитическая карта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2600" y="62738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588000" y="6553200"/>
            <a:ext cx="5080000" cy="558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588000" y="6553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изменений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40000" y="165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Исходное состояние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40000" y="4064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40000" y="6223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176000" y="1651000"/>
            <a:ext cx="25400" cy="5461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11176000" y="1651000"/>
            <a:ext cx="25400" cy="5461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11430000" y="165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Прогресс преобразования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pic>
        <p:nvPicPr>
          <p:cNvPr id="3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738" y="508762"/>
            <a:ext cx="14220810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Text 1"/>
          <p:cNvSpPr/>
          <p:nvPr/>
        </p:nvSpPr>
        <p:spPr>
          <a:xfrm>
            <a:off x="924316" y="463051"/>
            <a:ext cx="144036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4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получает клиент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5739" y="1042153"/>
            <a:ext cx="1523226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5" name="Text 3"/>
          <p:cNvSpPr/>
          <p:nvPr/>
        </p:nvSpPr>
        <p:spPr>
          <a:xfrm>
            <a:off x="1432185" y="1819717"/>
            <a:ext cx="3737832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7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799" dirty="0"/>
          </a:p>
        </p:txBody>
      </p:sp>
      <p:sp>
        <p:nvSpPr>
          <p:cNvPr id="6" name="Text 4"/>
          <p:cNvSpPr/>
          <p:nvPr/>
        </p:nvSpPr>
        <p:spPr>
          <a:xfrm>
            <a:off x="1269816" y="2619756"/>
            <a:ext cx="406295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5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данных</a:t>
            </a:r>
            <a:r>
              <a:rPr lang="ru-RU" sz="165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процесса</a:t>
            </a:r>
            <a:r>
              <a:rPr lang="en-US" sz="1650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(Excel)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285554" y="3095914"/>
            <a:ext cx="1777304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8" name="Text 6"/>
          <p:cNvSpPr/>
          <p:nvPr/>
        </p:nvSpPr>
        <p:spPr>
          <a:xfrm>
            <a:off x="1269816" y="3238760"/>
            <a:ext cx="4062952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i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устроена система?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396854" y="3667302"/>
            <a:ext cx="3554988" cy="1142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Структурированное описание всех источников данных, их связей и правил трансформации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33054" y="2857835"/>
            <a:ext cx="761566" cy="381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1" name="Text 9"/>
          <p:cNvSpPr/>
          <p:nvPr/>
        </p:nvSpPr>
        <p:spPr>
          <a:xfrm>
            <a:off x="6257370" y="1819717"/>
            <a:ext cx="3737832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7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799" dirty="0"/>
          </a:p>
        </p:txBody>
      </p:sp>
      <p:sp>
        <p:nvSpPr>
          <p:cNvPr id="12" name="Text 10"/>
          <p:cNvSpPr/>
          <p:nvPr/>
        </p:nvSpPr>
        <p:spPr>
          <a:xfrm>
            <a:off x="6094905" y="2619756"/>
            <a:ext cx="406295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Аналитическая карта процесса</a:t>
            </a:r>
            <a:r>
              <a:rPr lang="en-US" sz="1500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(PDF)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4530" y="3095914"/>
            <a:ext cx="1523226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4" name="Text 12"/>
          <p:cNvSpPr/>
          <p:nvPr/>
        </p:nvSpPr>
        <p:spPr>
          <a:xfrm>
            <a:off x="6094905" y="3238760"/>
            <a:ext cx="4062952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i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Где система теряет управляемость?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5830" y="3667302"/>
            <a:ext cx="3300911" cy="1142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Визуализация бизнес-процесса с точки зрения потока данных и управленческих решений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57953" y="2857835"/>
            <a:ext cx="761566" cy="381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/>
          <p:nvPr/>
        </p:nvSpPr>
        <p:spPr>
          <a:xfrm>
            <a:off x="11082269" y="1819717"/>
            <a:ext cx="3737832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799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799" dirty="0"/>
          </a:p>
        </p:txBody>
      </p:sp>
      <p:sp>
        <p:nvSpPr>
          <p:cNvPr id="18" name="Text 16"/>
          <p:cNvSpPr/>
          <p:nvPr/>
        </p:nvSpPr>
        <p:spPr>
          <a:xfrm>
            <a:off x="10919804" y="2619756"/>
            <a:ext cx="406295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Навигационная карта изменений</a:t>
            </a:r>
            <a:r>
              <a:rPr lang="en-US" sz="1500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(PDF)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189715" y="3095914"/>
            <a:ext cx="1523226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0" name="Text 18"/>
          <p:cNvSpPr/>
          <p:nvPr/>
        </p:nvSpPr>
        <p:spPr>
          <a:xfrm>
            <a:off x="10919804" y="3238760"/>
            <a:ext cx="4062952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2" i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Какие зависимости определяют возможные изменения?</a:t>
            </a:r>
            <a:endParaRPr lang="en-US" sz="1162" dirty="0"/>
          </a:p>
        </p:txBody>
      </p:sp>
      <p:sp>
        <p:nvSpPr>
          <p:cNvPr id="21" name="Text 19"/>
          <p:cNvSpPr/>
          <p:nvPr/>
        </p:nvSpPr>
        <p:spPr>
          <a:xfrm>
            <a:off x="11300729" y="3667302"/>
            <a:ext cx="3300911" cy="1142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Конкретные шаги по устранению выявленных разрывов и противоречий в процессе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39631" y="5143389"/>
            <a:ext cx="111733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3" name="Text 21"/>
          <p:cNvSpPr/>
          <p:nvPr/>
        </p:nvSpPr>
        <p:spPr>
          <a:xfrm>
            <a:off x="2448209" y="5333851"/>
            <a:ext cx="11356154" cy="57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50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артефакта формируют полную картину: от данных до управленческих решений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15738" y="8508200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pic>
        <p:nvPicPr>
          <p:cNvPr id="26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08AF1853-1939-E522-DFDC-50D232A60AF2}"/>
              </a:ext>
            </a:extLst>
          </p:cNvPr>
          <p:cNvSpPr/>
          <p:nvPr/>
        </p:nvSpPr>
        <p:spPr>
          <a:xfrm>
            <a:off x="924316" y="1224998"/>
            <a:ext cx="9816990" cy="606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Восстановление одного бизнес-процесса — три артефакта</a:t>
            </a:r>
            <a:endParaRPr lang="en-US" sz="15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31F1E6F-BB83-737E-D75D-F78149FE0ACF}"/>
              </a:ext>
            </a:extLst>
          </p:cNvPr>
          <p:cNvSpPr/>
          <p:nvPr/>
        </p:nvSpPr>
        <p:spPr>
          <a:xfrm>
            <a:off x="2448209" y="6303974"/>
            <a:ext cx="113561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→ Понимание → Действие</a:t>
            </a:r>
            <a:endParaRPr lang="en-US" sz="1402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A7BCF038-2F4A-20FD-8FB9-10D971BE6DA9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738" y="508762"/>
            <a:ext cx="14220810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Text 1"/>
          <p:cNvSpPr/>
          <p:nvPr/>
        </p:nvSpPr>
        <p:spPr>
          <a:xfrm>
            <a:off x="924316" y="463051"/>
            <a:ext cx="144036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4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Ценности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5739" y="1042153"/>
            <a:ext cx="1523226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5" name="Text 3"/>
          <p:cNvSpPr/>
          <p:nvPr/>
        </p:nvSpPr>
        <p:spPr>
          <a:xfrm>
            <a:off x="1904628" y="1905521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Единая согласованная модель процесса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904628" y="2572140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Данные, которым можно доверять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04628" y="3238760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Понимание, где возникают искажения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04628" y="3905380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Основа для автоматизации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904628" y="4572000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Основа для управленческих решений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04628" y="5238620"/>
            <a:ext cx="12380082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65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Снижение неопределённости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15738" y="8508200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2" name="Text 10"/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</a:rPr>
              <a:t>07</a:t>
            </a:r>
            <a:endParaRPr lang="en-US" sz="1200" dirty="0"/>
          </a:p>
        </p:txBody>
      </p:sp>
      <p:pic>
        <p:nvPicPr>
          <p:cNvPr id="13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Типовые задачи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Дебиторская задолженность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42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Бюджеты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Закупки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Запасы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42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Продажи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Логистика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Подготовка автоматизации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42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Разные цифры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68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Отсутствие доверия данным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016000" y="3683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1016000" y="4826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588000" y="1778000"/>
            <a:ext cx="12700" cy="304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0414000" y="1778000"/>
            <a:ext cx="12700" cy="304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540000" y="5842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40000" y="6096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Любой процесс, где данные разрознены, а решения принимаются вслепую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738" y="508762"/>
            <a:ext cx="14220810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Text 1"/>
          <p:cNvSpPr/>
          <p:nvPr/>
        </p:nvSpPr>
        <p:spPr>
          <a:xfrm>
            <a:off x="924316" y="463051"/>
            <a:ext cx="144036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Коммерческая модель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5739" y="1042153"/>
            <a:ext cx="1523226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1015738" y="1715058"/>
          <a:ext cx="14220810" cy="3809254"/>
        </p:xfrm>
        <a:graphic>
          <a:graphicData uri="http://schemas.openxmlformats.org/drawingml/2006/table">
            <a:tbl>
              <a:tblPr/>
              <a:tblGrid>
                <a:gridCol w="213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5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6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666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Этап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Масштаб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Срок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Цена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897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Старт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Определение контура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3–5 дней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25–30 тыс.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897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Один процесс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2–3 недели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90–150 тыс.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97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Несколько процессов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4–6 недель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180–360 тыс.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897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Высоконагруженная модель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6–10 недель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D374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Индивидуально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41140" marR="411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15738" y="5810008"/>
            <a:ext cx="14220810" cy="476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i="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Стоимость зависит от количества источников, систем и участников процесса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15738" y="8508200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8" name="Text 5"/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2"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</a:rPr>
              <a:t>09</a:t>
            </a:r>
            <a:endParaRPr lang="en-US" sz="1200" dirty="0"/>
          </a:p>
        </p:txBody>
      </p:sp>
      <p:pic>
        <p:nvPicPr>
          <p:cNvPr id="9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97333DFB-AB86-FD67-EE0F-A3D0D080DF98}"/>
              </a:ext>
            </a:extLst>
          </p:cNvPr>
          <p:cNvSpPr/>
          <p:nvPr/>
        </p:nvSpPr>
        <p:spPr>
          <a:xfrm>
            <a:off x="924316" y="1037481"/>
            <a:ext cx="9816990" cy="606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25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Масштаб определяется сложностью процесса: S — один процесс, M — несколько процессов, L — высоконагруженная модель</a:t>
            </a:r>
            <a:endParaRPr lang="en-US" sz="15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Финчек-Старт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ЭКСПРЕСС-ДИАГНОСТИКА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2286000"/>
            <a:ext cx="5080000" cy="1016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270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3–5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94000" y="2286000"/>
            <a:ext cx="304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рабочих дней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6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6000" y="234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20000" y="222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процесса верхнего уровня</a:t>
            </a:r>
            <a:r>
              <a:rPr lang="ru-RU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dirty="0"/>
              <a:t> </a:t>
            </a:r>
            <a:r>
              <a:rPr lang="ru-RU" sz="1500" dirty="0">
                <a:solidFill>
                  <a:srgbClr val="2D3748"/>
                </a:solidFill>
                <a:ea typeface="Liter" pitchFamily="34" charset="-122"/>
              </a:rPr>
              <a:t>(без деталей: откуда → куда → через что) </a:t>
            </a:r>
            <a:endParaRPr lang="en-US" sz="1500" dirty="0">
              <a:solidFill>
                <a:srgbClr val="2D3748"/>
              </a:solidFill>
              <a:latin typeface="Liter" pitchFamily="34" charset="0"/>
              <a:ea typeface="Liter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0" y="2984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620000" y="285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источников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6000" y="361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620000" y="349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Основной выявленный разрыв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66000" y="4254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620000" y="412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Предварительная оценка зрелости процесса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6000" y="488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620000" y="476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Рекомендация по дальнейшим действиям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16000" y="5842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016000" y="6096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Быстрая диагностика для принятия решения о масштабировании исследования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  <p:sp>
        <p:nvSpPr>
          <p:cNvPr id="25" name="Text 26">
            <a:extLst>
              <a:ext uri="{FF2B5EF4-FFF2-40B4-BE49-F238E27FC236}">
                <a16:creationId xmlns:a16="http://schemas.microsoft.com/office/drawing/2014/main" id="{92B828D5-872F-582F-C52B-ED072BFE0033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2"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</a:rPr>
              <a:t>10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6252667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Shape 1"/>
          <p:cNvSpPr/>
          <p:nvPr/>
        </p:nvSpPr>
        <p:spPr>
          <a:xfrm>
            <a:off x="1142673" y="2245589"/>
            <a:ext cx="2539345" cy="76156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4" name="Shape 2"/>
          <p:cNvSpPr/>
          <p:nvPr/>
        </p:nvSpPr>
        <p:spPr>
          <a:xfrm>
            <a:off x="2031477" y="2286447"/>
            <a:ext cx="2539345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5" name="Text 3"/>
          <p:cNvSpPr/>
          <p:nvPr/>
        </p:nvSpPr>
        <p:spPr>
          <a:xfrm>
            <a:off x="982342" y="2177057"/>
            <a:ext cx="2722190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97" b="1" kern="0" spc="-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Собрать</a:t>
            </a:r>
            <a:endParaRPr lang="en-US" sz="1597" dirty="0"/>
          </a:p>
        </p:txBody>
      </p:sp>
      <p:sp>
        <p:nvSpPr>
          <p:cNvPr id="6" name="Shape 4"/>
          <p:cNvSpPr/>
          <p:nvPr/>
        </p:nvSpPr>
        <p:spPr>
          <a:xfrm>
            <a:off x="3658724" y="2641659"/>
            <a:ext cx="1269435" cy="381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Shape 5"/>
          <p:cNvSpPr/>
          <p:nvPr/>
        </p:nvSpPr>
        <p:spPr>
          <a:xfrm>
            <a:off x="4916083" y="2275767"/>
            <a:ext cx="2539345" cy="76156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8" name="Shape 6"/>
          <p:cNvSpPr/>
          <p:nvPr/>
        </p:nvSpPr>
        <p:spPr>
          <a:xfrm>
            <a:off x="5840923" y="2286447"/>
            <a:ext cx="2539345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/>
          <p:nvPr/>
        </p:nvSpPr>
        <p:spPr>
          <a:xfrm>
            <a:off x="4729669" y="2205547"/>
            <a:ext cx="2722190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97" b="1" kern="0" spc="-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Понять</a:t>
            </a:r>
            <a:endParaRPr lang="en-US" sz="1597" dirty="0"/>
          </a:p>
        </p:txBody>
      </p:sp>
      <p:sp>
        <p:nvSpPr>
          <p:cNvPr id="10" name="Shape 8"/>
          <p:cNvSpPr/>
          <p:nvPr/>
        </p:nvSpPr>
        <p:spPr>
          <a:xfrm>
            <a:off x="7458805" y="2653534"/>
            <a:ext cx="1269435" cy="381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1" name="Shape 9"/>
          <p:cNvSpPr/>
          <p:nvPr/>
        </p:nvSpPr>
        <p:spPr>
          <a:xfrm>
            <a:off x="8714861" y="2275767"/>
            <a:ext cx="2539345" cy="76156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2" name="Shape 10"/>
          <p:cNvSpPr/>
          <p:nvPr/>
        </p:nvSpPr>
        <p:spPr>
          <a:xfrm>
            <a:off x="9650084" y="2286447"/>
            <a:ext cx="2539345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13" name="Text 11"/>
          <p:cNvSpPr/>
          <p:nvPr/>
        </p:nvSpPr>
        <p:spPr>
          <a:xfrm>
            <a:off x="8700150" y="2227421"/>
            <a:ext cx="2722190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97" b="1" kern="0" spc="-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Верифицировать</a:t>
            </a:r>
            <a:endParaRPr lang="en-US" sz="1597" dirty="0"/>
          </a:p>
        </p:txBody>
      </p:sp>
      <p:sp>
        <p:nvSpPr>
          <p:cNvPr id="14" name="Shape 12"/>
          <p:cNvSpPr/>
          <p:nvPr/>
        </p:nvSpPr>
        <p:spPr>
          <a:xfrm>
            <a:off x="11267585" y="2677752"/>
            <a:ext cx="1269435" cy="381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5" name="Shape 13"/>
          <p:cNvSpPr/>
          <p:nvPr/>
        </p:nvSpPr>
        <p:spPr>
          <a:xfrm>
            <a:off x="12531715" y="2275767"/>
            <a:ext cx="2539345" cy="76156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6" name="Shape 14"/>
          <p:cNvSpPr/>
          <p:nvPr/>
        </p:nvSpPr>
        <p:spPr>
          <a:xfrm>
            <a:off x="13459245" y="2286447"/>
            <a:ext cx="2539345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/>
          <p:nvPr/>
        </p:nvSpPr>
        <p:spPr>
          <a:xfrm>
            <a:off x="12395932" y="2193950"/>
            <a:ext cx="2722190" cy="852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97" b="1" kern="0" spc="-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Доверять</a:t>
            </a:r>
            <a:endParaRPr lang="en-US" sz="1597" dirty="0"/>
          </a:p>
        </p:txBody>
      </p:sp>
      <p:sp>
        <p:nvSpPr>
          <p:cNvPr id="18" name="Shape 16"/>
          <p:cNvSpPr/>
          <p:nvPr/>
        </p:nvSpPr>
        <p:spPr>
          <a:xfrm>
            <a:off x="6856661" y="4317923"/>
            <a:ext cx="2539345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9" name="Shape 17"/>
          <p:cNvSpPr/>
          <p:nvPr/>
        </p:nvSpPr>
        <p:spPr>
          <a:xfrm>
            <a:off x="4317030" y="4572000"/>
            <a:ext cx="7618226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0" name="Text 18"/>
          <p:cNvSpPr/>
          <p:nvPr/>
        </p:nvSpPr>
        <p:spPr>
          <a:xfrm>
            <a:off x="4225608" y="4526289"/>
            <a:ext cx="7801071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2" b="1" kern="0" spc="398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2002" dirty="0"/>
          </a:p>
        </p:txBody>
      </p:sp>
      <p:sp>
        <p:nvSpPr>
          <p:cNvPr id="21" name="Shape 19"/>
          <p:cNvSpPr/>
          <p:nvPr/>
        </p:nvSpPr>
        <p:spPr>
          <a:xfrm>
            <a:off x="3047500" y="5206908"/>
            <a:ext cx="10157572" cy="761566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2" name="Text 20"/>
          <p:cNvSpPr/>
          <p:nvPr/>
        </p:nvSpPr>
        <p:spPr>
          <a:xfrm>
            <a:off x="2956078" y="5161197"/>
            <a:ext cx="10340416" cy="85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97" kern="0" spc="-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Авторская методология восстановления достоверной модели бизнес-процессов</a:t>
            </a:r>
            <a:endParaRPr lang="en-US" sz="1597" dirty="0"/>
          </a:p>
        </p:txBody>
      </p:sp>
      <p:sp>
        <p:nvSpPr>
          <p:cNvPr id="23" name="Shape 21"/>
          <p:cNvSpPr/>
          <p:nvPr/>
        </p:nvSpPr>
        <p:spPr>
          <a:xfrm>
            <a:off x="4317030" y="6349685"/>
            <a:ext cx="7618226" cy="380449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4" name="Text 22"/>
          <p:cNvSpPr/>
          <p:nvPr/>
        </p:nvSpPr>
        <p:spPr>
          <a:xfrm>
            <a:off x="4225608" y="6303974"/>
            <a:ext cx="7801071" cy="471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Сначала понять, что происходит. Потом решать, что менять.</a:t>
            </a:r>
            <a:endParaRPr lang="en-US" sz="1402" dirty="0"/>
          </a:p>
        </p:txBody>
      </p:sp>
      <p:sp>
        <p:nvSpPr>
          <p:cNvPr id="25" name="Shape 23"/>
          <p:cNvSpPr/>
          <p:nvPr/>
        </p:nvSpPr>
        <p:spPr>
          <a:xfrm>
            <a:off x="1015738" y="8381161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6" name="Shape 24"/>
          <p:cNvSpPr/>
          <p:nvPr/>
        </p:nvSpPr>
        <p:spPr>
          <a:xfrm>
            <a:off x="1015739" y="8508200"/>
            <a:ext cx="5078595" cy="253792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27" name="Text 25"/>
          <p:cNvSpPr/>
          <p:nvPr/>
        </p:nvSpPr>
        <p:spPr>
          <a:xfrm>
            <a:off x="924316" y="8462489"/>
            <a:ext cx="526144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управленческого анализа</a:t>
            </a:r>
            <a:endParaRPr lang="en-US" sz="1200" dirty="0"/>
          </a:p>
        </p:txBody>
      </p:sp>
      <p:pic>
        <p:nvPicPr>
          <p:cNvPr id="28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3BD04AF2-27E6-FC94-E28F-B6540E29B5D8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2"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</a:rP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6252667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3" name="Shape 1"/>
          <p:cNvSpPr/>
          <p:nvPr/>
        </p:nvSpPr>
        <p:spPr>
          <a:xfrm>
            <a:off x="1015738" y="508762"/>
            <a:ext cx="14220810" cy="507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1350"/>
          </a:p>
        </p:txBody>
      </p:sp>
      <p:sp>
        <p:nvSpPr>
          <p:cNvPr id="4" name="Text 2"/>
          <p:cNvSpPr/>
          <p:nvPr/>
        </p:nvSpPr>
        <p:spPr>
          <a:xfrm>
            <a:off x="924316" y="463051"/>
            <a:ext cx="14403654" cy="59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-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Контакты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15739" y="1042153"/>
            <a:ext cx="1523226" cy="2523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6" name="Text 4"/>
          <p:cNvSpPr/>
          <p:nvPr/>
        </p:nvSpPr>
        <p:spPr>
          <a:xfrm>
            <a:off x="924316" y="2286446"/>
            <a:ext cx="14403654" cy="4761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Оксана Эдельман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24316" y="2857835"/>
            <a:ext cx="14403654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ru-RU" sz="135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Управленческий аналитик</a:t>
            </a:r>
            <a:r>
              <a:rPr lang="en-US" sz="135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автор методологии Финчек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6661" y="3524455"/>
            <a:ext cx="2539345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/>
          <p:nvPr/>
        </p:nvSpPr>
        <p:spPr>
          <a:xfrm>
            <a:off x="924316" y="3905380"/>
            <a:ext cx="14403654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✉  finance-check@mail.ru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4316" y="4381537"/>
            <a:ext cx="14403654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☎  +7 (965) 222-965-2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4316" y="4857694"/>
            <a:ext cx="14403654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🌐  финчек.рф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4316" y="5333851"/>
            <a:ext cx="14403654" cy="333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💬  Telegram: Дневник финансового диагноста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5738" y="8381161"/>
            <a:ext cx="14220810" cy="1228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4" name="Text 12"/>
          <p:cNvSpPr/>
          <p:nvPr/>
        </p:nvSpPr>
        <p:spPr>
          <a:xfrm>
            <a:off x="924316" y="8462489"/>
            <a:ext cx="526144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управленческого анализа</a:t>
            </a:r>
            <a:endParaRPr lang="en-US" sz="1200" dirty="0"/>
          </a:p>
        </p:txBody>
      </p:sp>
      <p:pic>
        <p:nvPicPr>
          <p:cNvPr id="15" name="Image 0" descr="https://kimi-img.moonshot.cn/pub/slides/okc/uzyhazdcszmdi/mnt/agents/output/fincheck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9" y="127932"/>
            <a:ext cx="761566" cy="761566"/>
          </a:xfrm>
          <a:prstGeom prst="rect">
            <a:avLst/>
          </a:prstGeom>
        </p:spPr>
      </p:pic>
      <p:sp>
        <p:nvSpPr>
          <p:cNvPr id="17" name="Text 26">
            <a:extLst>
              <a:ext uri="{FF2B5EF4-FFF2-40B4-BE49-F238E27FC236}">
                <a16:creationId xmlns:a16="http://schemas.microsoft.com/office/drawing/2014/main" id="{C56DFC7A-62EB-A69C-D557-FD8EE07637A4}"/>
              </a:ext>
            </a:extLst>
          </p:cNvPr>
          <p:cNvSpPr/>
          <p:nvPr/>
        </p:nvSpPr>
        <p:spPr>
          <a:xfrm>
            <a:off x="14637638" y="8564005"/>
            <a:ext cx="944410" cy="34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2" algn="r">
              <a:lnSpc>
                <a:spcPct val="120000"/>
              </a:lnSpc>
            </a:pPr>
            <a:r>
              <a:rPr lang="en-US" sz="1200" kern="0" spc="-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</a:rPr>
              <a:t>12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508</Words>
  <Application>Microsoft Office PowerPoint</Application>
  <PresentationFormat>Произвольный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Liter</vt:lpstr>
      <vt:lpstr>MiSans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Финчек — Авторская методология восстановления достоверной модели бизнес-процессов</dc:title>
  <dc:subject>Финчек — Авторская методология восстановления достоверной модели бизнес-процессов</dc:subject>
  <dc:creator>Kimi</dc:creator>
  <cp:lastModifiedBy>Оксана Эдельман</cp:lastModifiedBy>
  <cp:revision>14</cp:revision>
  <dcterms:created xsi:type="dcterms:W3CDTF">2026-07-08T07:49:52Z</dcterms:created>
  <dcterms:modified xsi:type="dcterms:W3CDTF">2026-07-09T07:10:10Z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{"Label":"Финчек — Авторская методология восстановления достоверной модели бизнес-процессов","ContentProducer":"001191110108MACG2KBH8F10000","ProduceID":"19f408f3-0662-8c54-8000-00000dbfdf38","ReservedCode1":"","ContentPropagator":"001191110108MACG2KBH8F20000","PropagateID":"19f408a9-9c32-8401-8000-096c82188f42","ReservedCode2":""}</vt:lpwstr>
  </property>
</Properties>
</file>